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78" r:id="rId2"/>
    <p:sldId id="315" r:id="rId3"/>
    <p:sldId id="377" r:id="rId4"/>
    <p:sldId id="318" r:id="rId5"/>
    <p:sldId id="317" r:id="rId6"/>
    <p:sldId id="375" r:id="rId7"/>
    <p:sldId id="322" r:id="rId8"/>
    <p:sldId id="365" r:id="rId9"/>
    <p:sldId id="326" r:id="rId10"/>
    <p:sldId id="320" r:id="rId11"/>
    <p:sldId id="324" r:id="rId12"/>
    <p:sldId id="323" r:id="rId13"/>
    <p:sldId id="371" r:id="rId14"/>
    <p:sldId id="325" r:id="rId15"/>
    <p:sldId id="309" r:id="rId16"/>
    <p:sldId id="367" r:id="rId17"/>
    <p:sldId id="368" r:id="rId18"/>
    <p:sldId id="328" r:id="rId19"/>
    <p:sldId id="329" r:id="rId20"/>
    <p:sldId id="369" r:id="rId21"/>
    <p:sldId id="352" r:id="rId22"/>
    <p:sldId id="353" r:id="rId23"/>
    <p:sldId id="336" r:id="rId24"/>
    <p:sldId id="332" r:id="rId25"/>
    <p:sldId id="339" r:id="rId26"/>
    <p:sldId id="370" r:id="rId27"/>
    <p:sldId id="358" r:id="rId28"/>
    <p:sldId id="374" r:id="rId29"/>
    <p:sldId id="287" r:id="rId30"/>
    <p:sldId id="361" r:id="rId31"/>
    <p:sldId id="362" r:id="rId32"/>
    <p:sldId id="360" r:id="rId33"/>
    <p:sldId id="364" r:id="rId34"/>
    <p:sldId id="294" r:id="rId3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D6EE76-2EED-433F-9637-FA0455F98D15}">
          <p14:sldIdLst>
            <p14:sldId id="378"/>
            <p14:sldId id="315"/>
            <p14:sldId id="377"/>
            <p14:sldId id="318"/>
            <p14:sldId id="317"/>
            <p14:sldId id="375"/>
            <p14:sldId id="322"/>
            <p14:sldId id="365"/>
            <p14:sldId id="326"/>
            <p14:sldId id="320"/>
            <p14:sldId id="324"/>
            <p14:sldId id="323"/>
            <p14:sldId id="371"/>
            <p14:sldId id="325"/>
            <p14:sldId id="309"/>
            <p14:sldId id="367"/>
            <p14:sldId id="368"/>
            <p14:sldId id="328"/>
            <p14:sldId id="329"/>
            <p14:sldId id="369"/>
          </p14:sldIdLst>
        </p14:section>
        <p14:section name="설계단계" id="{079FB007-4044-4E60-AD09-4E9512A5438F}">
          <p14:sldIdLst>
            <p14:sldId id="352"/>
            <p14:sldId id="353"/>
            <p14:sldId id="336"/>
            <p14:sldId id="332"/>
            <p14:sldId id="339"/>
            <p14:sldId id="370"/>
            <p14:sldId id="358"/>
            <p14:sldId id="374"/>
            <p14:sldId id="287"/>
            <p14:sldId id="361"/>
            <p14:sldId id="362"/>
            <p14:sldId id="360"/>
            <p14:sldId id="364"/>
            <p14:sldId id="294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AA8"/>
    <a:srgbClr val="003399"/>
    <a:srgbClr val="77787B"/>
    <a:srgbClr val="C40452"/>
    <a:srgbClr val="9999FF"/>
    <a:srgbClr val="E2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8" autoAdjust="0"/>
    <p:restoredTop sz="94766" autoAdjust="0"/>
  </p:normalViewPr>
  <p:slideViewPr>
    <p:cSldViewPr>
      <p:cViewPr varScale="1">
        <p:scale>
          <a:sx n="80" d="100"/>
          <a:sy n="80" d="100"/>
        </p:scale>
        <p:origin x="-106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5D5A-343A-4C1A-BC9D-610EC8B80F49}" type="datetimeFigureOut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D85EE-51FF-49B2-AE4A-EF643293EA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8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21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8C18-F846-4F83-9E4A-EF96E909B73F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BE8A-08A0-4AE2-B806-C9B9A473B0ED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617245"/>
            <a:ext cx="2133600" cy="196131"/>
          </a:xfrm>
        </p:spPr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0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3E15-7006-4370-B5F6-60D7104AE3B4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0D11-2C95-44F2-9DFC-D0C737CB5390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58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845-0C4F-469E-8726-3EBFD71077A7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99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C019-3CDA-4483-987D-B12D1EB4D233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6E48-2907-481B-8F8C-35E94B4338B9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E666-04C9-40C3-88DF-F7C22C7A6172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46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7B48-006F-4BC1-BDC8-3C8CA726AC13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0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DE9A-8BD0-4588-90EC-B8326F0668FE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3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B5EE-9957-45ED-8881-249F27AAE9BD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98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EC2E-D34C-4476-B4C7-64731BF56572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0" y="4509120"/>
            <a:ext cx="9144000" cy="234888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1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21600000">
            <a:off x="0" y="764704"/>
            <a:ext cx="4716016" cy="352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115616" y="1916832"/>
            <a:ext cx="708238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SW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개발</a:t>
            </a:r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/HW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제작 설계서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3688" y="3933056"/>
            <a:ext cx="6389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>
                <a:solidFill>
                  <a:srgbClr val="77787B"/>
                </a:solidFill>
              </a:rPr>
              <a:t>프로젝트 명 </a:t>
            </a:r>
            <a:r>
              <a:rPr lang="en-US" altLang="ko-KR" sz="2400" b="1" spc="-150" dirty="0">
                <a:solidFill>
                  <a:srgbClr val="77787B"/>
                </a:solidFill>
              </a:rPr>
              <a:t>:</a:t>
            </a:r>
            <a:endParaRPr lang="ko-KR" altLang="en-US" sz="2400" b="1" spc="-150" dirty="0">
              <a:solidFill>
                <a:srgbClr val="77787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8680" y="4754468"/>
            <a:ext cx="7526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2026. 00. 00</a:t>
            </a:r>
          </a:p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팀명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r>
              <a:rPr lang="en-US" altLang="ko-KR" sz="1600" dirty="0" smtClean="0">
                <a:solidFill>
                  <a:srgbClr val="FF0000"/>
                </a:solidFill>
                <a:latin typeface="+mn-ea"/>
              </a:rPr>
              <a:t>*</a:t>
            </a:r>
            <a:r>
              <a:rPr lang="ko-KR" altLang="en-US" sz="1600" i="1" dirty="0" smtClean="0">
                <a:solidFill>
                  <a:srgbClr val="FF0000"/>
                </a:solidFill>
                <a:latin typeface="+mn-ea"/>
              </a:rPr>
              <a:t>팀원 이름 및 소속 본문 내 기입 불가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193D47B2-ECB2-FCC5-FD1D-67B018129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수행 단계별 주요 산출물</a:t>
            </a: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61158"/>
              </p:ext>
            </p:extLst>
          </p:nvPr>
        </p:nvGraphicFramePr>
        <p:xfrm>
          <a:off x="1187625" y="1510757"/>
          <a:ext cx="7416822" cy="495029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01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5006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단계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산출물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일반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소프트웨어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하드웨어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54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∙모바일 </a:t>
                      </a:r>
                      <a:r>
                        <a:rPr lang="en-US" sz="700" b="1" kern="0" spc="0" dirty="0">
                          <a:effectLst/>
                        </a:rPr>
                        <a:t>APP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∙Web </a:t>
                      </a:r>
                      <a:r>
                        <a:rPr lang="ko-KR" altLang="en-US" sz="700" b="1" kern="0" spc="0" dirty="0">
                          <a:effectLst/>
                        </a:rPr>
                        <a:t>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빅데이터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∙인공지능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∙블록체인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en-US" sz="700" b="1" kern="0" spc="0" dirty="0" err="1">
                          <a:effectLst/>
                        </a:rPr>
                        <a:t>IoT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>
                          <a:effectLst/>
                        </a:rPr>
                        <a:t>로봇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드론</a:t>
                      </a:r>
                      <a:r>
                        <a:rPr lang="ko-KR" altLang="en-US" sz="700" b="1" kern="0" spc="0" dirty="0">
                          <a:effectLst/>
                        </a:rPr>
                        <a:t>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환경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시장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기술 환경 분석서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설문조사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인터뷰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0059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요구사항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요구사항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유즈케이스</a:t>
                      </a:r>
                      <a:r>
                        <a:rPr lang="ko-KR" altLang="en-US" sz="800" kern="0" spc="0" dirty="0">
                          <a:effectLst/>
                        </a:rPr>
                        <a:t>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1963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아키텍처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구성도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시스템 구성도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흐름도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데이터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UI/UX </a:t>
                      </a:r>
                      <a:r>
                        <a:rPr lang="ko-KR" altLang="en-US" sz="800" kern="0" spc="0" dirty="0">
                          <a:effectLst/>
                        </a:rPr>
                        <a:t>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센서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0059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기능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메뉴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화면 설계서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엔티티</a:t>
                      </a:r>
                      <a:r>
                        <a:rPr lang="ko-KR" altLang="en-US" sz="800" kern="0" spc="0" dirty="0">
                          <a:effectLst/>
                        </a:rPr>
                        <a:t> 관계도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기능 처리도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기능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알고리즘 명세서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설명서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데이터 수집처리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 설계도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개발 </a:t>
                      </a:r>
                      <a:r>
                        <a:rPr lang="en-US" altLang="ko-KR" sz="900" b="1" kern="0" spc="0" dirty="0">
                          <a:effectLst/>
                        </a:rPr>
                        <a:t>/ </a:t>
                      </a:r>
                      <a:r>
                        <a:rPr lang="ko-KR" altLang="en-US" sz="900" b="1" kern="0" spc="0" dirty="0">
                          <a:effectLst/>
                        </a:rPr>
                        <a:t>구현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프로그램 목록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테이블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핵심 소스코드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624" y="6453336"/>
            <a:ext cx="34563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※ ○ </a:t>
            </a:r>
            <a:r>
              <a:rPr lang="ko-KR" altLang="en-US" sz="1500" dirty="0"/>
              <a:t>필수</a:t>
            </a:r>
            <a:r>
              <a:rPr lang="en-US" altLang="ko-KR" sz="1500" dirty="0"/>
              <a:t>, △ </a:t>
            </a:r>
            <a:r>
              <a:rPr lang="ko-KR" altLang="en-US" sz="1500" dirty="0"/>
              <a:t>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5D688C9C-E99B-9A7D-A7C8-08A5313761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시장</a:t>
            </a:r>
            <a:r>
              <a:rPr lang="en-US" altLang="ko-KR" sz="1700" b="1" noProof="0" dirty="0">
                <a:solidFill>
                  <a:schemeClr val="bg1"/>
                </a:solidFill>
                <a:latin typeface="+mn-ea"/>
                <a:cs typeface="+mj-cs"/>
              </a:rPr>
              <a:t>/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기술 동향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16" y="1369871"/>
            <a:ext cx="7876108" cy="4699490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68DCFEA2-FD25-3801-86D6-6DE6784769A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E334B20-DDC3-CE57-4B9D-02AF7E5533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시장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기술 동향 분석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9836"/>
            <a:ext cx="4104455" cy="409141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147" y="1569836"/>
            <a:ext cx="4141366" cy="4091412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26">
            <a:extLst>
              <a:ext uri="{FF2B5EF4-FFF2-40B4-BE49-F238E27FC236}">
                <a16:creationId xmlns:a16="http://schemas.microsoft.com/office/drawing/2014/main" xmlns="" id="{2AEDE906-2236-DE9A-1320-CC105DEB0F9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EC2219F-33AF-397A-E05B-99F2DF943D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47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설문조사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83" y="1484783"/>
            <a:ext cx="4349925" cy="2182341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421752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796" y="2180524"/>
            <a:ext cx="4163306" cy="309942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34" y="3667125"/>
            <a:ext cx="2304256" cy="1612819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1623" y="4458880"/>
            <a:ext cx="2346998" cy="1356107"/>
          </a:xfrm>
          <a:prstGeom prst="rect">
            <a:avLst/>
          </a:prstGeom>
        </p:spPr>
      </p:pic>
      <p:sp>
        <p:nvSpPr>
          <p:cNvPr id="18" name="사각형: 둥근 모서리 26">
            <a:extLst>
              <a:ext uri="{FF2B5EF4-FFF2-40B4-BE49-F238E27FC236}">
                <a16:creationId xmlns:a16="http://schemas.microsoft.com/office/drawing/2014/main" xmlns="" id="{32C8AE77-3E4B-DC03-95E5-F96B4E4F62F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F11987E-FEA9-E0E4-2878-73A305AD00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95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인터뷰 결과서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31" y="1532568"/>
            <a:ext cx="7667625" cy="4457700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D283DBBF-9867-87D3-A776-7B0635AA87E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1F10DA88-101A-4225-F94B-263090EBF3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7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79930"/>
            <a:ext cx="8568952" cy="2747411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69659BEF-F123-08F4-4B5B-57C4F02FD4D3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9EEBD11-4006-3594-59BB-DFE0EC923D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41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51520" y="1268760"/>
          <a:ext cx="4320480" cy="4968554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399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4738">
                <a:tc rowSpan="1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식물 검색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DBMS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있는 식물 데이터를 사용자가 검색할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내 식물 추가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비어 있는 하우스를 선택해 새로운 식물을 등록할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내 식물 삭제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하우스에 저장되어 있는 식물을 선택해 삭제할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온도 상태보기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일주일 동안 누적된 식물의 온도 데이터를 그래프화하여 확인할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조도 상태보기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일주일 동안 누적된 식물의 조도 데이터를 그래프화하여 확인할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습도 상태보기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일주일 동안 누적된 식물의 습도 데이터를 그래프화하여 확인할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399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식물 테마 추천 받기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기능별 식물을 추천 받을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399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온도 조절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내의 온도를 높이거나 낮출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908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조도 조절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통해 하우스 내의 조도를 조절할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습도 조절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식물에의 급수를 통해 하우스의 습도를 조절할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자동 제어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제어 모드를 선택해 식물에게 적절한 환경을 갖추도록 자동으로 제어되게 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779677" y="1268760"/>
          <a:ext cx="4112803" cy="4968551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66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56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설명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1871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H/W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물주기</a:t>
                      </a:r>
                    </a:p>
                  </a:txBody>
                  <a:tcPr marL="30996" marR="30996" marT="8570" marB="8570" anchor="ctr"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펌프를 사용해 식물에게 물을 줄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 LED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키우기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LED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점등으로 식물에게 필요한 빛을 공급할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온도 올려주기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온도를 올려줄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온도 내려주기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온도를 내려줄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온도 측정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온도 센서를 통해 하우스 내의 온도를 측정할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조도 측정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조도 센서를 통해 하우스 내 식물이 받는 조도 값을 측정할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습도 측정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습도 센서를 통해 식물 토양의 습도를 측정할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872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아두이노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웹 서버 연결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아두이노를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웹 서버와 연동하여 통신이 가능하고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각 센서들로부터 측정값을 받아온다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B851744A-AE4F-BFAF-4985-F81C612084E7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6A8DEEC-EDDD-D5BE-5FB2-FEBE84D68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 err="1">
                <a:solidFill>
                  <a:schemeClr val="bg1"/>
                </a:solidFill>
                <a:latin typeface="+mn-ea"/>
                <a:cs typeface="+mj-cs"/>
              </a:rPr>
              <a:t>유즈케이스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224706"/>
            <a:ext cx="4733032" cy="405352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5322656"/>
            <a:ext cx="4760640" cy="90353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80" y="1664858"/>
            <a:ext cx="3577084" cy="3927202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2096E5B6-DD78-0BA2-8120-DB274B63CE3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4062E413-BE7C-D6B2-00C8-783CC0EC24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서비스에 대한 설명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717594"/>
            <a:ext cx="3429000" cy="358361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950" y="1803808"/>
            <a:ext cx="3886200" cy="3231174"/>
          </a:xfrm>
          <a:prstGeom prst="rect">
            <a:avLst/>
          </a:prstGeom>
        </p:spPr>
      </p:pic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xmlns="" id="{9F55A738-B68E-6DDA-E059-7059C30E1FD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BC05F760-5A43-8BEB-E2CD-64E1D6F25B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제목 12">
            <a:extLst>
              <a:ext uri="{FF2B5EF4-FFF2-40B4-BE49-F238E27FC236}">
                <a16:creationId xmlns:a16="http://schemas.microsoft.com/office/drawing/2014/main" xmlns="" id="{7ADB48A4-E2D1-87A1-7382-1F1A160B2A07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818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64" y="2204864"/>
            <a:ext cx="4205728" cy="27553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495" y="1627914"/>
            <a:ext cx="4144670" cy="4204593"/>
          </a:xfrm>
          <a:prstGeom prst="rect">
            <a:avLst/>
          </a:prstGeom>
        </p:spPr>
      </p:pic>
      <p:sp>
        <p:nvSpPr>
          <p:cNvPr id="17" name="사각형: 둥근 모서리 26">
            <a:extLst>
              <a:ext uri="{FF2B5EF4-FFF2-40B4-BE49-F238E27FC236}">
                <a16:creationId xmlns:a16="http://schemas.microsoft.com/office/drawing/2014/main" xmlns="" id="{D590C405-7030-BF99-7ED7-246D2BB2CE9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32A7EFF7-9AFA-3C51-BE4D-F3C6434AF8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71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흐름도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775262"/>
            <a:ext cx="4343150" cy="316590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3" y="1704102"/>
            <a:ext cx="4320480" cy="3525098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26">
            <a:extLst>
              <a:ext uri="{FF2B5EF4-FFF2-40B4-BE49-F238E27FC236}">
                <a16:creationId xmlns:a16="http://schemas.microsoft.com/office/drawing/2014/main" xmlns="" id="{B8EE4F8C-2E58-A451-2719-48988A0B78B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1BBF02A6-9C10-72D4-AC93-9BA89BC362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48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en-US" altLang="ko-KR" sz="1700" b="1" noProof="0">
                <a:solidFill>
                  <a:schemeClr val="bg1"/>
                </a:solidFill>
                <a:latin typeface="+mn-ea"/>
                <a:cs typeface="+mj-cs"/>
              </a:rPr>
              <a:t>UI/UX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정의서 </a:t>
            </a:r>
            <a:r>
              <a:rPr lang="en-US" altLang="ko-KR" sz="1400" b="1" noProof="0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 rot="5400000">
            <a:off x="-834231" y="3077394"/>
            <a:ext cx="4695825" cy="1836737"/>
          </a:xfrm>
          <a:prstGeom prst="rect">
            <a:avLst/>
          </a:prstGeom>
          <a:solidFill>
            <a:srgbClr val="FFFFFF"/>
          </a:solidFill>
          <a:ln w="12600">
            <a:solidFill>
              <a:srgbClr val="606060"/>
            </a:solidFill>
            <a:round/>
            <a:headEnd/>
            <a:tailEnd/>
          </a:ln>
          <a:effectLst>
            <a:outerShdw dist="38184" dir="2700000" algn="ctr" rotWithShape="0">
              <a:srgbClr val="BFBFBF"/>
            </a:outerShdw>
          </a:effectLst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ko-KR" altLang="en-US">
              <a:latin typeface="Arial" charset="0"/>
              <a:ea typeface="굴림" pitchFamily="48" charset="-127"/>
            </a:endParaRP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592138" y="1647850"/>
            <a:ext cx="1836737" cy="107950"/>
          </a:xfrm>
          <a:prstGeom prst="rect">
            <a:avLst/>
          </a:prstGeom>
          <a:solidFill>
            <a:srgbClr val="D9D9D9"/>
          </a:solidFill>
          <a:ln w="6480">
            <a:solidFill>
              <a:srgbClr val="7F7F7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Status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592138" y="1758975"/>
            <a:ext cx="1836737" cy="244475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 b="1">
                <a:solidFill>
                  <a:srgbClr val="FFFFFF"/>
                </a:solidFill>
                <a:latin typeface="Trebuchet MS" pitchFamily="34" charset="0"/>
                <a:ea typeface="맑은 고딕" pitchFamily="50" charset="-127"/>
              </a:rPr>
              <a:t>간편가입</a:t>
            </a:r>
          </a:p>
        </p:txBody>
      </p:sp>
      <p:sp>
        <p:nvSpPr>
          <p:cNvPr id="33" name="AutoShape 4"/>
          <p:cNvSpPr>
            <a:spLocks noChangeArrowheads="1"/>
          </p:cNvSpPr>
          <p:nvPr/>
        </p:nvSpPr>
        <p:spPr bwMode="auto">
          <a:xfrm flipH="1">
            <a:off x="631825" y="1789137"/>
            <a:ext cx="295275" cy="165100"/>
          </a:xfrm>
          <a:prstGeom prst="homePlate">
            <a:avLst>
              <a:gd name="adj" fmla="val 50002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7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이전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595313" y="1997100"/>
            <a:ext cx="1836737" cy="25558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pSp>
        <p:nvGrpSpPr>
          <p:cNvPr id="35" name="Group 6"/>
          <p:cNvGrpSpPr>
            <a:grpSpLocks/>
          </p:cNvGrpSpPr>
          <p:nvPr/>
        </p:nvGrpSpPr>
        <p:grpSpPr bwMode="auto">
          <a:xfrm>
            <a:off x="641350" y="2028850"/>
            <a:ext cx="1727200" cy="188912"/>
            <a:chOff x="494" y="1152"/>
            <a:chExt cx="1088" cy="119"/>
          </a:xfrm>
        </p:grpSpPr>
        <p:sp>
          <p:nvSpPr>
            <p:cNvPr id="36" name="AutoShape 7"/>
            <p:cNvSpPr>
              <a:spLocks noChangeArrowheads="1"/>
            </p:cNvSpPr>
            <p:nvPr/>
          </p:nvSpPr>
          <p:spPr bwMode="auto">
            <a:xfrm>
              <a:off x="494" y="1152"/>
              <a:ext cx="1088" cy="119"/>
            </a:xfrm>
            <a:prstGeom prst="roundRect">
              <a:avLst>
                <a:gd name="adj" fmla="val 16944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CBCBC"/>
                </a:gs>
              </a:gsLst>
              <a:lin ang="16200000" scaled="1"/>
            </a:gradFill>
            <a:ln w="9360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lIns="90000" tIns="46800" rIns="72000" bIns="46800" anchor="ctr"/>
            <a:lstStyle>
              <a:lvl1pPr marL="92075" indent="-90488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lang="en-US" altLang="ko-KR" sz="700">
                  <a:solidFill>
                    <a:srgbClr val="A6A6A6"/>
                  </a:solidFill>
                  <a:latin typeface="Trebuchet MS" pitchFamily="34" charset="0"/>
                  <a:ea typeface="맑은 고딕" pitchFamily="50" charset="-127"/>
                </a:rPr>
                <a:t>      </a:t>
              </a:r>
              <a:r>
                <a:rPr lang="ko-KR" altLang="ko-KR" sz="700">
                  <a:solidFill>
                    <a:srgbClr val="A6A6A6"/>
                  </a:solidFill>
                  <a:ea typeface="맑은 고딕" pitchFamily="50" charset="-127"/>
                </a:rPr>
                <a:t>간편</a:t>
              </a:r>
              <a:r>
                <a:rPr lang="en-US" altLang="ko-KR" sz="300">
                  <a:solidFill>
                    <a:srgbClr val="A6A6A6"/>
                  </a:solidFill>
                  <a:ea typeface="맑은 고딕" pitchFamily="50" charset="-127"/>
                </a:rPr>
                <a:t> </a:t>
              </a:r>
            </a:p>
          </p:txBody>
        </p:sp>
        <p:grpSp>
          <p:nvGrpSpPr>
            <p:cNvPr id="37" name="Group 8"/>
            <p:cNvGrpSpPr>
              <a:grpSpLocks/>
            </p:cNvGrpSpPr>
            <p:nvPr/>
          </p:nvGrpSpPr>
          <p:grpSpPr bwMode="auto">
            <a:xfrm>
              <a:off x="495" y="1158"/>
              <a:ext cx="362" cy="111"/>
              <a:chOff x="495" y="1158"/>
              <a:chExt cx="362" cy="111"/>
            </a:xfrm>
          </p:grpSpPr>
          <p:sp>
            <p:nvSpPr>
              <p:cNvPr id="42" name="AutoShape 9"/>
              <p:cNvSpPr>
                <a:spLocks noChangeArrowheads="1"/>
              </p:cNvSpPr>
              <p:nvPr/>
            </p:nvSpPr>
            <p:spPr bwMode="auto">
              <a:xfrm>
                <a:off x="495" y="1158"/>
                <a:ext cx="335" cy="111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CBCBC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0" bIns="46800" anchor="ctr"/>
              <a:lstStyle>
                <a:lvl1pPr marL="92075" indent="-90488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r>
                  <a:rPr lang="ko-KR" altLang="ko-KR" sz="700">
                    <a:solidFill>
                      <a:srgbClr val="000000"/>
                    </a:solidFill>
                    <a:latin typeface="Trebuchet MS" pitchFamily="34" charset="0"/>
                    <a:ea typeface="맑은 고딕" pitchFamily="50" charset="-127"/>
                  </a:rPr>
                  <a:t>기본정보</a:t>
                </a:r>
              </a:p>
            </p:txBody>
          </p:sp>
          <p:sp>
            <p:nvSpPr>
              <p:cNvPr id="43" name="AutoShape 10"/>
              <p:cNvSpPr>
                <a:spLocks noChangeArrowheads="1"/>
              </p:cNvSpPr>
              <p:nvPr/>
            </p:nvSpPr>
            <p:spPr bwMode="auto">
              <a:xfrm>
                <a:off x="810" y="1158"/>
                <a:ext cx="47" cy="111"/>
              </a:xfrm>
              <a:prstGeom prst="roundRect">
                <a:avLst>
                  <a:gd name="adj" fmla="val 0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CBCBC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>
              <a:off x="856" y="1152"/>
              <a:ext cx="0" cy="11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9" name="Group 12"/>
            <p:cNvGrpSpPr>
              <a:grpSpLocks/>
            </p:cNvGrpSpPr>
            <p:nvPr/>
          </p:nvGrpSpPr>
          <p:grpSpPr bwMode="auto">
            <a:xfrm>
              <a:off x="865" y="1152"/>
              <a:ext cx="363" cy="117"/>
              <a:chOff x="865" y="1152"/>
              <a:chExt cx="363" cy="117"/>
            </a:xfrm>
          </p:grpSpPr>
          <p:sp>
            <p:nvSpPr>
              <p:cNvPr id="40" name="AutoShape 13"/>
              <p:cNvSpPr>
                <a:spLocks noChangeArrowheads="1"/>
              </p:cNvSpPr>
              <p:nvPr/>
            </p:nvSpPr>
            <p:spPr bwMode="auto">
              <a:xfrm>
                <a:off x="865" y="1158"/>
                <a:ext cx="362" cy="111"/>
              </a:xfrm>
              <a:prstGeom prst="roundRect">
                <a:avLst>
                  <a:gd name="adj" fmla="val 0"/>
                </a:avLst>
              </a:prstGeom>
              <a:gradFill rotWithShape="0">
                <a:gsLst>
                  <a:gs pos="0">
                    <a:srgbClr val="85DFFF"/>
                  </a:gs>
                  <a:gs pos="100000">
                    <a:srgbClr val="00B6F6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92075" indent="-90488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700">
                    <a:solidFill>
                      <a:srgbClr val="000000"/>
                    </a:solidFill>
                    <a:ea typeface="맑은 고딕" pitchFamily="50" charset="-127"/>
                  </a:rPr>
                  <a:t>정보</a:t>
                </a:r>
              </a:p>
            </p:txBody>
          </p:sp>
          <p:sp>
            <p:nvSpPr>
              <p:cNvPr id="41" name="Line 14"/>
              <p:cNvSpPr>
                <a:spLocks noChangeShapeType="1"/>
              </p:cNvSpPr>
              <p:nvPr/>
            </p:nvSpPr>
            <p:spPr bwMode="auto">
              <a:xfrm>
                <a:off x="1228" y="1152"/>
                <a:ext cx="0" cy="111"/>
              </a:xfrm>
              <a:prstGeom prst="line">
                <a:avLst/>
              </a:prstGeom>
              <a:noFill/>
              <a:ln w="324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44" name="AutoShape 15"/>
          <p:cNvSpPr>
            <a:spLocks noChangeArrowheads="1"/>
          </p:cNvSpPr>
          <p:nvPr/>
        </p:nvSpPr>
        <p:spPr bwMode="auto">
          <a:xfrm>
            <a:off x="623888" y="2262212"/>
            <a:ext cx="1778000" cy="3429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2F2F2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ko-KR" altLang="en-US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가입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남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55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세</a:t>
            </a:r>
          </a:p>
        </p:txBody>
      </p:sp>
      <p:graphicFrame>
        <p:nvGraphicFramePr>
          <p:cNvPr id="45" name="Group 16"/>
          <p:cNvGraphicFramePr>
            <a:graphicFrameLocks noGrp="1"/>
          </p:cNvGraphicFramePr>
          <p:nvPr/>
        </p:nvGraphicFramePr>
        <p:xfrm>
          <a:off x="603250" y="2638450"/>
          <a:ext cx="1828800" cy="1562100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2725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가입정보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지역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경기도 성남시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성별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남자</a:t>
                      </a:r>
                      <a:endParaRPr kumimoji="0" 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가입년도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6" name="AutoShape 35"/>
          <p:cNvSpPr>
            <a:spLocks noChangeArrowheads="1"/>
          </p:cNvSpPr>
          <p:nvPr/>
        </p:nvSpPr>
        <p:spPr bwMode="auto">
          <a:xfrm>
            <a:off x="1282700" y="3402037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1800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2012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endParaRPr lang="ko-KR" altLang="ko-KR" sz="8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7" name="Group 36"/>
          <p:cNvGraphicFramePr>
            <a:graphicFrameLocks noGrp="1"/>
          </p:cNvGraphicFramePr>
          <p:nvPr/>
        </p:nvGraphicFramePr>
        <p:xfrm>
          <a:off x="603250" y="3667150"/>
          <a:ext cx="1828800" cy="1009650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2725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그룹정보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기간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 가입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납입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20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년납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48" name="Group 55"/>
          <p:cNvGraphicFramePr>
            <a:graphicFrameLocks noGrp="1"/>
          </p:cNvGraphicFramePr>
          <p:nvPr/>
        </p:nvGraphicFramePr>
        <p:xfrm>
          <a:off x="603250" y="4941912"/>
          <a:ext cx="1828800" cy="1138238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1313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상품정보</a:t>
                      </a: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 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보험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년만기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납입기간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년납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가입금액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9" name="AutoShape 74"/>
          <p:cNvSpPr>
            <a:spLocks noChangeArrowheads="1"/>
          </p:cNvSpPr>
          <p:nvPr/>
        </p:nvSpPr>
        <p:spPr bwMode="auto">
          <a:xfrm>
            <a:off x="1282700" y="5827737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1800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</p:txBody>
      </p:sp>
      <p:sp>
        <p:nvSpPr>
          <p:cNvPr id="50" name="Text Box 75"/>
          <p:cNvSpPr txBox="1">
            <a:spLocks noChangeArrowheads="1"/>
          </p:cNvSpPr>
          <p:nvPr/>
        </p:nvSpPr>
        <p:spPr bwMode="auto">
          <a:xfrm>
            <a:off x="1204913" y="4699025"/>
            <a:ext cx="6746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……… n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</a:t>
            </a:r>
          </a:p>
        </p:txBody>
      </p:sp>
      <p:grpSp>
        <p:nvGrpSpPr>
          <p:cNvPr id="51" name="Group 76"/>
          <p:cNvGrpSpPr>
            <a:grpSpLocks/>
          </p:cNvGrpSpPr>
          <p:nvPr/>
        </p:nvGrpSpPr>
        <p:grpSpPr bwMode="auto">
          <a:xfrm>
            <a:off x="592138" y="6076975"/>
            <a:ext cx="1835150" cy="276225"/>
            <a:chOff x="463" y="3702"/>
            <a:chExt cx="1156" cy="174"/>
          </a:xfrm>
        </p:grpSpPr>
        <p:sp>
          <p:nvSpPr>
            <p:cNvPr id="52" name="Rectangle 77"/>
            <p:cNvSpPr>
              <a:spLocks noChangeArrowheads="1"/>
            </p:cNvSpPr>
            <p:nvPr/>
          </p:nvSpPr>
          <p:spPr bwMode="auto">
            <a:xfrm>
              <a:off x="463" y="3702"/>
              <a:ext cx="1156" cy="174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53" name="AutoShape 78"/>
            <p:cNvSpPr>
              <a:spLocks noChangeArrowheads="1"/>
            </p:cNvSpPr>
            <p:nvPr/>
          </p:nvSpPr>
          <p:spPr bwMode="auto">
            <a:xfrm>
              <a:off x="475" y="3710"/>
              <a:ext cx="225" cy="158"/>
            </a:xfrm>
            <a:prstGeom prst="roundRect">
              <a:avLst>
                <a:gd name="adj" fmla="val 16667"/>
              </a:avLst>
            </a:prstGeom>
            <a:solidFill>
              <a:srgbClr val="262626"/>
            </a:solidFill>
            <a:ln w="9360">
              <a:solidFill>
                <a:srgbClr val="262626"/>
              </a:solidFill>
              <a:miter lim="800000"/>
              <a:headEnd/>
              <a:tailEnd/>
            </a:ln>
          </p:spPr>
          <p:txBody>
            <a:bodyPr lIns="0" tIns="18000" rIns="0" bIns="7200" anchor="b" anchorCtr="1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600">
                  <a:solidFill>
                    <a:srgbClr val="FFFFFF"/>
                  </a:solidFill>
                  <a:ea typeface="맑은 고딕" pitchFamily="50" charset="-127"/>
                </a:rPr>
                <a:t>HOME</a:t>
              </a:r>
            </a:p>
          </p:txBody>
        </p:sp>
        <p:sp>
          <p:nvSpPr>
            <p:cNvPr id="54" name="Oval 79"/>
            <p:cNvSpPr>
              <a:spLocks noChangeArrowheads="1"/>
            </p:cNvSpPr>
            <p:nvPr/>
          </p:nvSpPr>
          <p:spPr bwMode="auto">
            <a:xfrm>
              <a:off x="554" y="3730"/>
              <a:ext cx="67" cy="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55" name="Group 80"/>
            <p:cNvGrpSpPr>
              <a:grpSpLocks/>
            </p:cNvGrpSpPr>
            <p:nvPr/>
          </p:nvGrpSpPr>
          <p:grpSpPr bwMode="auto">
            <a:xfrm>
              <a:off x="701" y="3710"/>
              <a:ext cx="225" cy="158"/>
              <a:chOff x="701" y="3710"/>
              <a:chExt cx="225" cy="158"/>
            </a:xfrm>
          </p:grpSpPr>
          <p:sp>
            <p:nvSpPr>
              <p:cNvPr id="66" name="AutoShape 81"/>
              <p:cNvSpPr>
                <a:spLocks noChangeArrowheads="1"/>
              </p:cNvSpPr>
              <p:nvPr/>
            </p:nvSpPr>
            <p:spPr bwMode="auto">
              <a:xfrm>
                <a:off x="701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공지사항</a:t>
                </a:r>
              </a:p>
            </p:txBody>
          </p:sp>
          <p:sp>
            <p:nvSpPr>
              <p:cNvPr id="67" name="Oval 82"/>
              <p:cNvSpPr>
                <a:spLocks noChangeArrowheads="1"/>
              </p:cNvSpPr>
              <p:nvPr/>
            </p:nvSpPr>
            <p:spPr bwMode="auto">
              <a:xfrm>
                <a:off x="781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6" name="Group 83"/>
            <p:cNvGrpSpPr>
              <a:grpSpLocks/>
            </p:cNvGrpSpPr>
            <p:nvPr/>
          </p:nvGrpSpPr>
          <p:grpSpPr bwMode="auto">
            <a:xfrm>
              <a:off x="927" y="3710"/>
              <a:ext cx="225" cy="158"/>
              <a:chOff x="927" y="3710"/>
              <a:chExt cx="225" cy="158"/>
            </a:xfrm>
          </p:grpSpPr>
          <p:sp>
            <p:nvSpPr>
              <p:cNvPr id="64" name="AutoShape 84"/>
              <p:cNvSpPr>
                <a:spLocks noChangeArrowheads="1"/>
              </p:cNvSpPr>
              <p:nvPr/>
            </p:nvSpPr>
            <p:spPr bwMode="auto">
              <a:xfrm>
                <a:off x="927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500">
                    <a:solidFill>
                      <a:srgbClr val="FFFFFF"/>
                    </a:solidFill>
                    <a:ea typeface="맑은 고딕" pitchFamily="50" charset="-127"/>
                  </a:rPr>
                  <a:t>헬프데스크</a:t>
                </a:r>
              </a:p>
            </p:txBody>
          </p:sp>
          <p:sp>
            <p:nvSpPr>
              <p:cNvPr id="65" name="Oval 85"/>
              <p:cNvSpPr>
                <a:spLocks noChangeArrowheads="1"/>
              </p:cNvSpPr>
              <p:nvPr/>
            </p:nvSpPr>
            <p:spPr bwMode="auto">
              <a:xfrm>
                <a:off x="1000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7" name="Group 86"/>
            <p:cNvGrpSpPr>
              <a:grpSpLocks/>
            </p:cNvGrpSpPr>
            <p:nvPr/>
          </p:nvGrpSpPr>
          <p:grpSpPr bwMode="auto">
            <a:xfrm>
              <a:off x="1380" y="3710"/>
              <a:ext cx="225" cy="158"/>
              <a:chOff x="1380" y="3710"/>
              <a:chExt cx="225" cy="158"/>
            </a:xfrm>
          </p:grpSpPr>
          <p:sp>
            <p:nvSpPr>
              <p:cNvPr id="62" name="AutoShape 87"/>
              <p:cNvSpPr>
                <a:spLocks noChangeArrowheads="1"/>
              </p:cNvSpPr>
              <p:nvPr/>
            </p:nvSpPr>
            <p:spPr bwMode="auto">
              <a:xfrm>
                <a:off x="1380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종료</a:t>
                </a:r>
              </a:p>
            </p:txBody>
          </p:sp>
          <p:sp>
            <p:nvSpPr>
              <p:cNvPr id="63" name="Oval 88"/>
              <p:cNvSpPr>
                <a:spLocks noChangeArrowheads="1"/>
              </p:cNvSpPr>
              <p:nvPr/>
            </p:nvSpPr>
            <p:spPr bwMode="auto">
              <a:xfrm>
                <a:off x="1456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8" name="Group 89"/>
            <p:cNvGrpSpPr>
              <a:grpSpLocks/>
            </p:cNvGrpSpPr>
            <p:nvPr/>
          </p:nvGrpSpPr>
          <p:grpSpPr bwMode="auto">
            <a:xfrm>
              <a:off x="1154" y="3710"/>
              <a:ext cx="225" cy="158"/>
              <a:chOff x="1154" y="3710"/>
              <a:chExt cx="225" cy="158"/>
            </a:xfrm>
          </p:grpSpPr>
          <p:sp>
            <p:nvSpPr>
              <p:cNvPr id="59" name="AutoShape 90"/>
              <p:cNvSpPr>
                <a:spLocks noChangeArrowheads="1"/>
              </p:cNvSpPr>
              <p:nvPr/>
            </p:nvSpPr>
            <p:spPr bwMode="auto">
              <a:xfrm>
                <a:off x="1154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전체메뉴</a:t>
                </a:r>
              </a:p>
            </p:txBody>
          </p:sp>
          <p:sp>
            <p:nvSpPr>
              <p:cNvPr id="60" name="Oval 91"/>
              <p:cNvSpPr>
                <a:spLocks noChangeArrowheads="1"/>
              </p:cNvSpPr>
              <p:nvPr/>
            </p:nvSpPr>
            <p:spPr bwMode="auto">
              <a:xfrm>
                <a:off x="1227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</p:grpSp>
      <p:sp>
        <p:nvSpPr>
          <p:cNvPr id="68" name="AutoShape 92"/>
          <p:cNvSpPr>
            <a:spLocks noChangeArrowheads="1"/>
          </p:cNvSpPr>
          <p:nvPr/>
        </p:nvSpPr>
        <p:spPr bwMode="auto">
          <a:xfrm>
            <a:off x="1292225" y="4425975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360">
            <a:solidFill>
              <a:srgbClr val="A6A6A6"/>
            </a:solidFill>
            <a:miter lim="800000"/>
            <a:headEnd/>
            <a:tailEnd/>
          </a:ln>
        </p:spPr>
        <p:txBody>
          <a:bodyPr lIns="36000" tIns="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ko-KR" altLang="ko-KR" sz="800" b="1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</p:txBody>
      </p:sp>
      <p:sp>
        <p:nvSpPr>
          <p:cNvPr id="69" name="AutoShape 93"/>
          <p:cNvSpPr>
            <a:spLocks noChangeArrowheads="1"/>
          </p:cNvSpPr>
          <p:nvPr/>
        </p:nvSpPr>
        <p:spPr bwMode="auto">
          <a:xfrm>
            <a:off x="1292225" y="4168800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년납▼</a:t>
            </a:r>
          </a:p>
        </p:txBody>
      </p:sp>
      <p:grpSp>
        <p:nvGrpSpPr>
          <p:cNvPr id="70" name="Group 94"/>
          <p:cNvGrpSpPr>
            <a:grpSpLocks/>
          </p:cNvGrpSpPr>
          <p:nvPr/>
        </p:nvGrpSpPr>
        <p:grpSpPr bwMode="auto">
          <a:xfrm>
            <a:off x="163513" y="2247925"/>
            <a:ext cx="387350" cy="1874837"/>
            <a:chOff x="193" y="1290"/>
            <a:chExt cx="244" cy="1181"/>
          </a:xfrm>
        </p:grpSpPr>
        <p:sp>
          <p:nvSpPr>
            <p:cNvPr id="71" name="Text Box 95"/>
            <p:cNvSpPr txBox="1">
              <a:spLocks noChangeArrowheads="1"/>
            </p:cNvSpPr>
            <p:nvPr/>
          </p:nvSpPr>
          <p:spPr bwMode="auto">
            <a:xfrm>
              <a:off x="193" y="1797"/>
              <a:ext cx="159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lang="en-US" altLang="ko-KR" sz="800">
                  <a:solidFill>
                    <a:srgbClr val="000000"/>
                  </a:solidFill>
                  <a:latin typeface="Trebuchet MS" pitchFamily="34" charset="0"/>
                  <a:ea typeface="맑은 고딕" pitchFamily="50" charset="-127"/>
                </a:rPr>
                <a:t>Scroll</a:t>
              </a:r>
            </a:p>
            <a:p>
              <a:pPr algn="r" eaLnBrk="1" hangingPunct="1"/>
              <a:r>
                <a:rPr lang="ko-KR" altLang="ko-KR" sz="800">
                  <a:solidFill>
                    <a:srgbClr val="000000"/>
                  </a:solidFill>
                  <a:latin typeface="Trebuchet MS" pitchFamily="34" charset="0"/>
                  <a:ea typeface="맑은 고딕" pitchFamily="50" charset="-127"/>
                </a:rPr>
                <a:t>영역</a:t>
              </a:r>
            </a:p>
          </p:txBody>
        </p:sp>
        <p:sp>
          <p:nvSpPr>
            <p:cNvPr id="72" name="Line 96"/>
            <p:cNvSpPr>
              <a:spLocks noChangeShapeType="1"/>
            </p:cNvSpPr>
            <p:nvPr/>
          </p:nvSpPr>
          <p:spPr bwMode="auto">
            <a:xfrm>
              <a:off x="371" y="1291"/>
              <a:ext cx="0" cy="1171"/>
            </a:xfrm>
            <a:prstGeom prst="line">
              <a:avLst/>
            </a:prstGeom>
            <a:noFill/>
            <a:ln w="9360">
              <a:solidFill>
                <a:srgbClr val="7F7F7F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Line 97"/>
            <p:cNvSpPr>
              <a:spLocks noChangeShapeType="1"/>
            </p:cNvSpPr>
            <p:nvPr/>
          </p:nvSpPr>
          <p:spPr bwMode="auto">
            <a:xfrm>
              <a:off x="305" y="2472"/>
              <a:ext cx="132" cy="0"/>
            </a:xfrm>
            <a:prstGeom prst="line">
              <a:avLst/>
            </a:prstGeom>
            <a:noFill/>
            <a:ln w="9360">
              <a:solidFill>
                <a:srgbClr val="D9D9D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Line 98"/>
            <p:cNvSpPr>
              <a:spLocks noChangeShapeType="1"/>
            </p:cNvSpPr>
            <p:nvPr/>
          </p:nvSpPr>
          <p:spPr bwMode="auto">
            <a:xfrm>
              <a:off x="305" y="1290"/>
              <a:ext cx="132" cy="0"/>
            </a:xfrm>
            <a:prstGeom prst="line">
              <a:avLst/>
            </a:prstGeom>
            <a:noFill/>
            <a:ln w="9360">
              <a:solidFill>
                <a:srgbClr val="D9D9D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Text Box 100"/>
          <p:cNvSpPr txBox="1">
            <a:spLocks noChangeArrowheads="1"/>
          </p:cNvSpPr>
          <p:nvPr/>
        </p:nvSpPr>
        <p:spPr bwMode="auto">
          <a:xfrm>
            <a:off x="80963" y="1216025"/>
            <a:ext cx="92075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marL="179388" indent="-179388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350"/>
              </a:spcBef>
              <a:buClr>
                <a:srgbClr val="FF0000"/>
              </a:buClr>
              <a:buFont typeface="Wingdings" pitchFamily="2" charset="2"/>
              <a:buChar char=""/>
            </a:pP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회원가입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신청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가입 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상품 리스트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기본 정보 입력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추가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정보 입력</a:t>
            </a:r>
          </a:p>
        </p:txBody>
      </p:sp>
      <p:graphicFrame>
        <p:nvGraphicFramePr>
          <p:cNvPr id="76" name="Group 101"/>
          <p:cNvGraphicFramePr>
            <a:graphicFrameLocks noGrp="1"/>
          </p:cNvGraphicFramePr>
          <p:nvPr/>
        </p:nvGraphicFramePr>
        <p:xfrm>
          <a:off x="6228184" y="1527175"/>
          <a:ext cx="2730500" cy="4902200"/>
        </p:xfrm>
        <a:graphic>
          <a:graphicData uri="http://schemas.openxmlformats.org/drawingml/2006/table">
            <a:tbl>
              <a:tblPr/>
              <a:tblGrid>
                <a:gridCol w="2936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36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5900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4138" indent="-84138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4138" marR="0" lvl="0" indent="-84138" algn="l" defTabSz="449263" rtl="0" eaLnBrk="1" fontAlgn="base" latinLnBrk="0" hangingPunct="1">
                        <a:lnSpc>
                          <a:spcPct val="9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리스트 참고</a:t>
                      </a:r>
                    </a:p>
                  </a:txBody>
                  <a:tcPr marL="36000" marR="36000" marT="36000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731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년도</a:t>
                      </a:r>
                      <a:endParaRPr kumimoji="0" lang="ko-KR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Tap 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 숫자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Keypad 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올라옴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입력박스 가려지지 않도록 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만원’ 으로 표기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575D1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575D1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금액 표기 정책 참고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가입범위 </a:t>
                      </a:r>
                      <a:r>
                        <a:rPr kumimoji="0" lang="en-US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제공 </a:t>
                      </a:r>
                      <a:r>
                        <a:rPr kumimoji="0" lang="ko-KR" altLang="en-US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리스</a:t>
                      </a: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트 참고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78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 제공하는 경우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가입범위를 넘을 경우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합산  한도를 초과할 경우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 시 입력박스에 동시에 입력할 경우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45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64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064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779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77" name="Oval 146"/>
          <p:cNvSpPr>
            <a:spLocks noChangeArrowheads="1"/>
          </p:cNvSpPr>
          <p:nvPr/>
        </p:nvSpPr>
        <p:spPr bwMode="auto">
          <a:xfrm>
            <a:off x="2476500" y="333377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1</a:t>
            </a:r>
          </a:p>
        </p:txBody>
      </p:sp>
      <p:sp>
        <p:nvSpPr>
          <p:cNvPr id="79" name="AutoShape 158"/>
          <p:cNvSpPr>
            <a:spLocks noChangeArrowheads="1"/>
          </p:cNvSpPr>
          <p:nvPr/>
        </p:nvSpPr>
        <p:spPr bwMode="auto">
          <a:xfrm>
            <a:off x="3908425" y="1924075"/>
            <a:ext cx="1617663" cy="904875"/>
          </a:xfrm>
          <a:prstGeom prst="roundRect">
            <a:avLst>
              <a:gd name="adj" fmla="val 6602"/>
            </a:avLst>
          </a:prstGeom>
          <a:solidFill>
            <a:srgbClr val="F2F2F2"/>
          </a:solidFill>
          <a:ln w="9360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입력 가능한 가입금액은</a:t>
            </a:r>
          </a:p>
          <a:p>
            <a:pPr algn="ctr" eaLnBrk="1" hangingPunct="1">
              <a:spcBef>
                <a:spcPts val="200"/>
              </a:spcBef>
            </a:pP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 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~ 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입니다</a:t>
            </a: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.</a:t>
            </a: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sp>
        <p:nvSpPr>
          <p:cNvPr id="80" name="AutoShape 159"/>
          <p:cNvSpPr>
            <a:spLocks noChangeArrowheads="1"/>
          </p:cNvSpPr>
          <p:nvPr/>
        </p:nvSpPr>
        <p:spPr bwMode="auto">
          <a:xfrm>
            <a:off x="4375150" y="2557487"/>
            <a:ext cx="663575" cy="2143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확인</a:t>
            </a:r>
          </a:p>
        </p:txBody>
      </p:sp>
      <p:sp>
        <p:nvSpPr>
          <p:cNvPr id="81" name="Rectangle 160"/>
          <p:cNvSpPr>
            <a:spLocks noChangeArrowheads="1"/>
          </p:cNvSpPr>
          <p:nvPr/>
        </p:nvSpPr>
        <p:spPr bwMode="auto">
          <a:xfrm>
            <a:off x="3921125" y="1724050"/>
            <a:ext cx="1433513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[</a:t>
            </a:r>
            <a:r>
              <a:rPr lang="ko-KR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가입금액 초과 입력 시</a:t>
            </a:r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]</a:t>
            </a:r>
          </a:p>
        </p:txBody>
      </p:sp>
      <p:sp>
        <p:nvSpPr>
          <p:cNvPr id="82" name="Oval 161"/>
          <p:cNvSpPr>
            <a:spLocks noChangeArrowheads="1"/>
          </p:cNvSpPr>
          <p:nvPr/>
        </p:nvSpPr>
        <p:spPr bwMode="auto">
          <a:xfrm>
            <a:off x="5553075" y="203202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3</a:t>
            </a:r>
          </a:p>
        </p:txBody>
      </p:sp>
      <p:cxnSp>
        <p:nvCxnSpPr>
          <p:cNvPr id="83" name="AutoShape 162"/>
          <p:cNvCxnSpPr>
            <a:cxnSpLocks noChangeShapeType="1"/>
          </p:cNvCxnSpPr>
          <p:nvPr/>
        </p:nvCxnSpPr>
        <p:spPr bwMode="auto">
          <a:xfrm>
            <a:off x="2349500" y="3509987"/>
            <a:ext cx="1193800" cy="500063"/>
          </a:xfrm>
          <a:prstGeom prst="bentConnector3">
            <a:avLst>
              <a:gd name="adj1" fmla="val 50000"/>
            </a:avLst>
          </a:prstGeom>
          <a:noFill/>
          <a:ln w="324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Oval 163"/>
          <p:cNvSpPr>
            <a:spLocks noChangeArrowheads="1"/>
          </p:cNvSpPr>
          <p:nvPr/>
        </p:nvSpPr>
        <p:spPr bwMode="auto">
          <a:xfrm>
            <a:off x="2476500" y="4448200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2</a:t>
            </a:r>
          </a:p>
        </p:txBody>
      </p:sp>
      <p:sp>
        <p:nvSpPr>
          <p:cNvPr id="85" name="AutoShape 164"/>
          <p:cNvSpPr>
            <a:spLocks noChangeArrowheads="1"/>
          </p:cNvSpPr>
          <p:nvPr/>
        </p:nvSpPr>
        <p:spPr bwMode="auto">
          <a:xfrm>
            <a:off x="3908425" y="3371875"/>
            <a:ext cx="1617663" cy="904875"/>
          </a:xfrm>
          <a:prstGeom prst="roundRect">
            <a:avLst>
              <a:gd name="adj" fmla="val 6602"/>
            </a:avLst>
          </a:prstGeom>
          <a:solidFill>
            <a:srgbClr val="F2F2F2"/>
          </a:solidFill>
          <a:ln w="9360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입력 가능한 합산금액의</a:t>
            </a:r>
          </a:p>
          <a:p>
            <a:pPr algn="ctr" eaLnBrk="1" hangingPunct="1">
              <a:spcBef>
                <a:spcPts val="200"/>
              </a:spcBef>
            </a:pP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한도는 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입니다</a:t>
            </a: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.</a:t>
            </a: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sp>
        <p:nvSpPr>
          <p:cNvPr id="86" name="AutoShape 165"/>
          <p:cNvSpPr>
            <a:spLocks noChangeArrowheads="1"/>
          </p:cNvSpPr>
          <p:nvPr/>
        </p:nvSpPr>
        <p:spPr bwMode="auto">
          <a:xfrm>
            <a:off x="4375150" y="4005287"/>
            <a:ext cx="663575" cy="2143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확인</a:t>
            </a:r>
          </a:p>
        </p:txBody>
      </p:sp>
      <p:sp>
        <p:nvSpPr>
          <p:cNvPr id="87" name="Rectangle 166"/>
          <p:cNvSpPr>
            <a:spLocks noChangeArrowheads="1"/>
          </p:cNvSpPr>
          <p:nvPr/>
        </p:nvSpPr>
        <p:spPr bwMode="auto">
          <a:xfrm>
            <a:off x="3929063" y="3171850"/>
            <a:ext cx="15017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[</a:t>
            </a:r>
            <a:r>
              <a:rPr lang="ko-KR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금액 한도 초과 입력 시</a:t>
            </a:r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]</a:t>
            </a:r>
          </a:p>
        </p:txBody>
      </p:sp>
      <p:sp>
        <p:nvSpPr>
          <p:cNvPr id="88" name="Oval 167"/>
          <p:cNvSpPr>
            <a:spLocks noChangeArrowheads="1"/>
          </p:cNvSpPr>
          <p:nvPr/>
        </p:nvSpPr>
        <p:spPr bwMode="auto">
          <a:xfrm>
            <a:off x="5553075" y="347982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4</a:t>
            </a:r>
          </a:p>
        </p:txBody>
      </p:sp>
      <p:sp>
        <p:nvSpPr>
          <p:cNvPr id="89" name="Rectangle 172"/>
          <p:cNvSpPr>
            <a:spLocks noChangeArrowheads="1"/>
          </p:cNvSpPr>
          <p:nvPr/>
        </p:nvSpPr>
        <p:spPr bwMode="auto">
          <a:xfrm>
            <a:off x="3552825" y="1628800"/>
            <a:ext cx="2447925" cy="4305300"/>
          </a:xfrm>
          <a:prstGeom prst="rect">
            <a:avLst/>
          </a:prstGeom>
          <a:noFill/>
          <a:ln w="19080">
            <a:solidFill>
              <a:srgbClr val="D1D1F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1" name="사각형: 둥근 모서리 26">
            <a:extLst>
              <a:ext uri="{FF2B5EF4-FFF2-40B4-BE49-F238E27FC236}">
                <a16:creationId xmlns:a16="http://schemas.microsoft.com/office/drawing/2014/main" xmlns="" id="{0E4A983E-CA26-604D-09BD-211D71016DD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31DD24D-FF12-3894-E23F-6A8B7D676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1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image4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23528" y="1370159"/>
            <a:ext cx="8496944" cy="4612231"/>
          </a:xfrm>
          <a:prstGeom prst="rect">
            <a:avLst/>
          </a:prstGeom>
          <a:noFill/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DF4E7F9F-E81E-264F-67F1-2261EF859E8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5359606-F14A-DDEC-A185-BDD0EFB4D7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0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1" name="_x193052136" descr="EMB000020045b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44972"/>
            <a:ext cx="8362684" cy="394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직사각형 6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3DC963F6-25B8-BBCC-1B04-3CE6E09A0901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D6375A2A-DA98-9997-0E24-F0F1B6CF56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87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539552" y="1340768"/>
          <a:ext cx="7992888" cy="4711161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49758">
                <a:tc row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번호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LOG-01-01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1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신규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/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기존 선택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939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기능설명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앱의 첫 화면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기존회원은 자신이 연동했던 계정으로 로그인을 할 수 있음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신규 회원은 회원가입을 할 수 있음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96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처리내용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∎기존회원의 로그인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자신이 연동했던 계정으로 로그인을 할 수 있음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</a:rPr>
                        <a:t/>
                      </a:r>
                      <a:b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계정의 아이콘을 누르면 로그인 창으로 넘어감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∎신규 회원의 회원가입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‘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시작하기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’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버튼을 눌러 신규 회원의 회원가입 창으로 넘어감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자신이 연동하고 싶은 계정의 아이콘을 누르면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각각의 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API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에 따라 회원 가입 창으로 이동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4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∎연결되는 기능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 연동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49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요구사항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계정연동 및 회원가입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5121" name="_x278366352" descr="EMB00002bb84fc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5733" r="49615" b="3430"/>
          <a:stretch>
            <a:fillRect/>
          </a:stretch>
        </p:blipFill>
        <p:spPr bwMode="auto">
          <a:xfrm>
            <a:off x="655856" y="1825665"/>
            <a:ext cx="1899920" cy="362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0FA5E0F8-8CC6-A87D-AD96-28772427EC8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66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24356" y="1196753"/>
          <a:ext cx="7388004" cy="1770126"/>
        </p:xfrm>
        <a:graphic>
          <a:graphicData uri="http://schemas.openxmlformats.org/drawingml/2006/table">
            <a:tbl>
              <a:tblPr/>
              <a:tblGrid>
                <a:gridCol w="12252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1627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2764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기능정보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 기능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기기별로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시간을 예약할 수 있는 기능이다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835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처리내용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도면에 등록된 기기 중 사용자가 시간을 예약하고자 하는 기기를 누른다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화면에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버튼이 출력되면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 설정하고자 하는 버튼을 누른다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기기를 작동하고자 하는 시간을 입력한다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기기의 작동을 중지시키고자 하는 시간을 입력한다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입력한 시간과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입력한 시간 사이에 기기가 작동한다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버튼만 누른 경우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시간을 지정하지 않고 기기를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상태로 유지시킨다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버튼만 누른 경우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켜져있는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기기를 예약된 시간에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시키기만 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관련번호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CP-7, FN-7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00496" y="3068961"/>
          <a:ext cx="7411864" cy="2118203"/>
        </p:xfrm>
        <a:graphic>
          <a:graphicData uri="http://schemas.openxmlformats.org/drawingml/2006/table">
            <a:tbl>
              <a:tblPr/>
              <a:tblGrid>
                <a:gridCol w="12911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2007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사용 예시 정보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30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예약을 원하는 기기를 클릭하고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버튼을 누른 후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기기를 작동하고 싶은 시간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작동을 중지시키고 싶은 시간을 입력하면 예약한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시간동안에만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기기가 작동한다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30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 데이터 값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원하는 기기를 선택한 후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기기를 켜는 시간과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기기를 끄는 시간을 입력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9457" name="_x280090008" descr="EMB00002bb84fe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86" y="3429000"/>
            <a:ext cx="926570" cy="168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03649" y="5229200"/>
          <a:ext cx="3736303" cy="1070102"/>
        </p:xfrm>
        <a:graphic>
          <a:graphicData uri="http://schemas.openxmlformats.org/drawingml/2006/table">
            <a:tbl>
              <a:tblPr/>
              <a:tblGrid>
                <a:gridCol w="7856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64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34696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입출력 데이터 항목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입출력구분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 이벤트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기기를 클릭한 후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 입력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 작동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예약한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시간동안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 작동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211960" y="5238078"/>
          <a:ext cx="3672408" cy="1089660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34696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선행필수기능 및 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시간만 입력한 경우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시간은 지정하지 않고 기기를 계속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상태로 유지시킨다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시간만 입력한 경우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시간은 지정하지 않고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켜져있는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시키기만 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5619872-8C5B-7BF6-3DE5-01466CA902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7" name="사각형: 둥근 모서리 26">
            <a:extLst>
              <a:ext uri="{FF2B5EF4-FFF2-40B4-BE49-F238E27FC236}">
                <a16:creationId xmlns:a16="http://schemas.microsoft.com/office/drawing/2014/main" xmlns="" id="{6EE6A61D-0EA7-9A46-E087-D9299DC2509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3665573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34704"/>
            <a:ext cx="4896544" cy="439251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1357167"/>
            <a:ext cx="5137215" cy="3944041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91323CDD-5E9E-C59E-00BC-F6A0C5B7205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D27511D3-092B-0E5E-ADB8-4B746E2E65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제목 12">
            <a:extLst>
              <a:ext uri="{FF2B5EF4-FFF2-40B4-BE49-F238E27FC236}">
                <a16:creationId xmlns:a16="http://schemas.microsoft.com/office/drawing/2014/main" xmlns="" id="{F073248A-68DC-126C-08AC-5D561EF158D1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77043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78" y="1233293"/>
            <a:ext cx="8432800" cy="4777019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CC4BBFF7-CD92-B35B-7F09-53871FF03D60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2B8AE8E0-AD17-92BC-538B-30035A166B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제목 12">
            <a:extLst>
              <a:ext uri="{FF2B5EF4-FFF2-40B4-BE49-F238E27FC236}">
                <a16:creationId xmlns:a16="http://schemas.microsoft.com/office/drawing/2014/main" xmlns="" id="{672C8274-EFDB-6E3A-A8A8-52D837517324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0389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엔티티 관계도 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08739"/>
            <a:ext cx="8331200" cy="5003800"/>
          </a:xfrm>
          <a:prstGeom prst="rect">
            <a:avLst/>
          </a:prstGeom>
        </p:spPr>
      </p:pic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xmlns="" id="{8C4CF61E-8373-429B-5FD3-4AAABD98BF36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E311E42-8094-1ED2-BF9F-D52B09934D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13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처리도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흐름도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막힌 원호 77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168879" y="2132856"/>
          <a:ext cx="8848773" cy="4341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87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8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기능 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6063">
                <a:tc>
                  <a:txBody>
                    <a:bodyPr/>
                    <a:lstStyle/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2" name="Text Box 62"/>
          <p:cNvSpPr txBox="1">
            <a:spLocks noChangeArrowheads="1"/>
          </p:cNvSpPr>
          <p:nvPr/>
        </p:nvSpPr>
        <p:spPr bwMode="auto">
          <a:xfrm>
            <a:off x="586102" y="2492896"/>
            <a:ext cx="49688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키넥트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연동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인터렉티브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전래동화 연계도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</p:txBody>
      </p:sp>
      <p:sp>
        <p:nvSpPr>
          <p:cNvPr id="83" name="AutoShape 85"/>
          <p:cNvSpPr>
            <a:spLocks noChangeArrowheads="1"/>
          </p:cNvSpPr>
          <p:nvPr/>
        </p:nvSpPr>
        <p:spPr bwMode="auto">
          <a:xfrm>
            <a:off x="719932" y="2812827"/>
            <a:ext cx="7848600" cy="3564000"/>
          </a:xfrm>
          <a:prstGeom prst="roundRect">
            <a:avLst>
              <a:gd name="adj" fmla="val 2189"/>
            </a:avLst>
          </a:prstGeom>
          <a:noFill/>
          <a:ln w="19050">
            <a:solidFill>
              <a:srgbClr val="C4045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000">
              <a:ln w="1270">
                <a:solidFill>
                  <a:schemeClr val="tx1"/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4" name="Rectangle 41"/>
          <p:cNvSpPr>
            <a:spLocks noChangeArrowheads="1"/>
          </p:cNvSpPr>
          <p:nvPr/>
        </p:nvSpPr>
        <p:spPr bwMode="auto">
          <a:xfrm>
            <a:off x="1502156" y="3129979"/>
            <a:ext cx="1439862" cy="309563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프로그램 실행</a:t>
            </a:r>
          </a:p>
        </p:txBody>
      </p:sp>
      <p:sp>
        <p:nvSpPr>
          <p:cNvPr id="85" name="AutoShape 46"/>
          <p:cNvSpPr>
            <a:spLocks noChangeArrowheads="1"/>
          </p:cNvSpPr>
          <p:nvPr/>
        </p:nvSpPr>
        <p:spPr bwMode="auto">
          <a:xfrm>
            <a:off x="1502156" y="4555554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전래동화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(PFCBGSGM)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86" name="순서도: 판단 85"/>
          <p:cNvSpPr/>
          <p:nvPr/>
        </p:nvSpPr>
        <p:spPr>
          <a:xfrm>
            <a:off x="1478343" y="3807842"/>
            <a:ext cx="1428750" cy="357187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전래동화 옵션</a:t>
            </a:r>
          </a:p>
        </p:txBody>
      </p:sp>
      <p:cxnSp>
        <p:nvCxnSpPr>
          <p:cNvPr id="87" name="직선 화살표 연결선 86"/>
          <p:cNvCxnSpPr/>
          <p:nvPr/>
        </p:nvCxnSpPr>
        <p:spPr>
          <a:xfrm rot="5400000">
            <a:off x="2008568" y="3626867"/>
            <a:ext cx="360363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8" name="직선 화살표 연결선 87"/>
          <p:cNvCxnSpPr/>
          <p:nvPr/>
        </p:nvCxnSpPr>
        <p:spPr>
          <a:xfrm rot="5400000">
            <a:off x="2018887" y="4346798"/>
            <a:ext cx="358775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9" name="꺾인 연결선 88"/>
          <p:cNvCxnSpPr>
            <a:stCxn id="86" idx="3"/>
            <a:endCxn id="84" idx="3"/>
          </p:cNvCxnSpPr>
          <p:nvPr/>
        </p:nvCxnSpPr>
        <p:spPr>
          <a:xfrm flipV="1">
            <a:off x="2907093" y="3285554"/>
            <a:ext cx="34925" cy="700088"/>
          </a:xfrm>
          <a:prstGeom prst="bentConnector3">
            <a:avLst>
              <a:gd name="adj1" fmla="val 755484"/>
            </a:avLst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90" name="TextBox 71"/>
          <p:cNvSpPr txBox="1">
            <a:spLocks noChangeArrowheads="1"/>
          </p:cNvSpPr>
          <p:nvPr/>
        </p:nvSpPr>
        <p:spPr bwMode="auto">
          <a:xfrm>
            <a:off x="2026031" y="4109467"/>
            <a:ext cx="2571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Y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TextBox 71"/>
          <p:cNvSpPr txBox="1">
            <a:spLocks noChangeArrowheads="1"/>
          </p:cNvSpPr>
          <p:nvPr/>
        </p:nvSpPr>
        <p:spPr bwMode="auto">
          <a:xfrm>
            <a:off x="2953131" y="3242692"/>
            <a:ext cx="2809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N</a:t>
            </a: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Rectangle 41"/>
          <p:cNvSpPr>
            <a:spLocks noChangeArrowheads="1"/>
          </p:cNvSpPr>
          <p:nvPr/>
        </p:nvSpPr>
        <p:spPr bwMode="auto">
          <a:xfrm>
            <a:off x="3737356" y="3009329"/>
            <a:ext cx="1223962" cy="349250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전래동화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옵션 선택</a:t>
            </a:r>
          </a:p>
        </p:txBody>
      </p:sp>
      <p:sp>
        <p:nvSpPr>
          <p:cNvPr id="93" name="순서도: 판단 92"/>
          <p:cNvSpPr/>
          <p:nvPr/>
        </p:nvSpPr>
        <p:spPr>
          <a:xfrm>
            <a:off x="5332793" y="3006154"/>
            <a:ext cx="1428750" cy="357188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동화보기</a:t>
            </a:r>
          </a:p>
        </p:txBody>
      </p:sp>
      <p:sp>
        <p:nvSpPr>
          <p:cNvPr id="94" name="순서도: 판단 93"/>
          <p:cNvSpPr/>
          <p:nvPr/>
        </p:nvSpPr>
        <p:spPr>
          <a:xfrm>
            <a:off x="5332793" y="3523679"/>
            <a:ext cx="1428750" cy="357188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재생녹화</a:t>
            </a:r>
          </a:p>
        </p:txBody>
      </p:sp>
      <p:sp>
        <p:nvSpPr>
          <p:cNvPr id="95" name="순서도: 판단 94"/>
          <p:cNvSpPr/>
          <p:nvPr/>
        </p:nvSpPr>
        <p:spPr>
          <a:xfrm>
            <a:off x="5332793" y="4045967"/>
            <a:ext cx="1428750" cy="357187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다시보기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6" name="순서도: 판단 95"/>
          <p:cNvSpPr/>
          <p:nvPr/>
        </p:nvSpPr>
        <p:spPr>
          <a:xfrm>
            <a:off x="5332793" y="4579367"/>
            <a:ext cx="1428750" cy="357187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맑은 고딕" pitchFamily="50" charset="-127"/>
                <a:ea typeface="맑은 고딕" pitchFamily="50" charset="-127"/>
              </a:rPr>
              <a:t>인기동화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7" name="순서도: 판단 96"/>
          <p:cNvSpPr/>
          <p:nvPr/>
        </p:nvSpPr>
        <p:spPr>
          <a:xfrm>
            <a:off x="5323268" y="5130229"/>
            <a:ext cx="1428750" cy="357188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 err="1">
                <a:latin typeface="맑은 고딕" pitchFamily="50" charset="-127"/>
                <a:ea typeface="맑은 고딕" pitchFamily="50" charset="-127"/>
              </a:rPr>
              <a:t>게임하기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4970843" y="3188717"/>
            <a:ext cx="360363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99" name="직선 연결선 98"/>
          <p:cNvCxnSpPr/>
          <p:nvPr/>
        </p:nvCxnSpPr>
        <p:spPr>
          <a:xfrm rot="5400000" flipH="1" flipV="1">
            <a:off x="3935000" y="4356323"/>
            <a:ext cx="2341562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0" name="직선 연결선 99"/>
          <p:cNvCxnSpPr/>
          <p:nvPr/>
        </p:nvCxnSpPr>
        <p:spPr>
          <a:xfrm>
            <a:off x="5115306" y="3703067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1" name="직선 연결선 100"/>
          <p:cNvCxnSpPr/>
          <p:nvPr/>
        </p:nvCxnSpPr>
        <p:spPr>
          <a:xfrm>
            <a:off x="5110543" y="4231704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2" name="직선 연결선 101"/>
          <p:cNvCxnSpPr/>
          <p:nvPr/>
        </p:nvCxnSpPr>
        <p:spPr>
          <a:xfrm>
            <a:off x="5110543" y="4763517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3" name="직선 연결선 102"/>
          <p:cNvCxnSpPr/>
          <p:nvPr/>
        </p:nvCxnSpPr>
        <p:spPr>
          <a:xfrm>
            <a:off x="5110543" y="5320729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4" name="Shape 83"/>
          <p:cNvCxnSpPr>
            <a:endCxn id="85" idx="3"/>
          </p:cNvCxnSpPr>
          <p:nvPr/>
        </p:nvCxnSpPr>
        <p:spPr>
          <a:xfrm rot="10800000">
            <a:off x="2222881" y="5095304"/>
            <a:ext cx="2882900" cy="431800"/>
          </a:xfrm>
          <a:prstGeom prst="bentConnector2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05" name="직선 화살표 연결선 104"/>
          <p:cNvCxnSpPr/>
          <p:nvPr/>
        </p:nvCxnSpPr>
        <p:spPr>
          <a:xfrm>
            <a:off x="6761543" y="3187129"/>
            <a:ext cx="215900" cy="158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106" name="Rectangle 41"/>
          <p:cNvSpPr>
            <a:spLocks noChangeArrowheads="1"/>
          </p:cNvSpPr>
          <p:nvPr/>
        </p:nvSpPr>
        <p:spPr bwMode="auto">
          <a:xfrm>
            <a:off x="7012368" y="3545904"/>
            <a:ext cx="1079500" cy="309563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오디오 플레이</a:t>
            </a:r>
          </a:p>
        </p:txBody>
      </p:sp>
      <p:cxnSp>
        <p:nvCxnSpPr>
          <p:cNvPr id="107" name="직선 화살표 연결선 106"/>
          <p:cNvCxnSpPr/>
          <p:nvPr/>
        </p:nvCxnSpPr>
        <p:spPr>
          <a:xfrm>
            <a:off x="6771068" y="3703067"/>
            <a:ext cx="215900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08" name="직선 화살표 연결선 107"/>
          <p:cNvCxnSpPr/>
          <p:nvPr/>
        </p:nvCxnSpPr>
        <p:spPr>
          <a:xfrm>
            <a:off x="6752018" y="4230117"/>
            <a:ext cx="215900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09" name="직선 화살표 연결선 108"/>
          <p:cNvCxnSpPr/>
          <p:nvPr/>
        </p:nvCxnSpPr>
        <p:spPr>
          <a:xfrm>
            <a:off x="6752018" y="4761929"/>
            <a:ext cx="215900" cy="158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10" name="직선 화살표 연결선 109"/>
          <p:cNvCxnSpPr/>
          <p:nvPr/>
        </p:nvCxnSpPr>
        <p:spPr>
          <a:xfrm>
            <a:off x="6752018" y="5304854"/>
            <a:ext cx="215900" cy="158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111" name="Rectangle 41"/>
          <p:cNvSpPr>
            <a:spLocks noChangeArrowheads="1"/>
          </p:cNvSpPr>
          <p:nvPr/>
        </p:nvSpPr>
        <p:spPr bwMode="auto">
          <a:xfrm>
            <a:off x="6993318" y="4065017"/>
            <a:ext cx="1079500" cy="309562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과거이력 검색</a:t>
            </a:r>
          </a:p>
        </p:txBody>
      </p:sp>
      <p:sp>
        <p:nvSpPr>
          <p:cNvPr id="112" name="AutoShape 46"/>
          <p:cNvSpPr>
            <a:spLocks noChangeArrowheads="1"/>
          </p:cNvSpPr>
          <p:nvPr/>
        </p:nvSpPr>
        <p:spPr bwMode="auto">
          <a:xfrm>
            <a:off x="6982206" y="2915667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전래동화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(PFOBSCDM)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113" name="AutoShape 46"/>
          <p:cNvSpPr>
            <a:spLocks noChangeArrowheads="1"/>
          </p:cNvSpPr>
          <p:nvPr/>
        </p:nvSpPr>
        <p:spPr bwMode="auto">
          <a:xfrm>
            <a:off x="6982206" y="4484117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맑은 고딕" pitchFamily="50" charset="-127"/>
                <a:ea typeface="맑은 고딕" pitchFamily="50" charset="-127"/>
              </a:rPr>
              <a:t>인기순위 정보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(COMCODEM)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114" name="AutoShape 46"/>
          <p:cNvSpPr>
            <a:spLocks noChangeArrowheads="1"/>
          </p:cNvSpPr>
          <p:nvPr/>
        </p:nvSpPr>
        <p:spPr bwMode="auto">
          <a:xfrm>
            <a:off x="6982206" y="5049267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게임정보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(PFCBICDM)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115" name="Oval 44"/>
          <p:cNvSpPr>
            <a:spLocks noChangeArrowheads="1"/>
          </p:cNvSpPr>
          <p:nvPr/>
        </p:nvSpPr>
        <p:spPr bwMode="auto">
          <a:xfrm>
            <a:off x="4837493" y="2910904"/>
            <a:ext cx="268288" cy="203200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16" name="Oval 58"/>
          <p:cNvSpPr>
            <a:spLocks noChangeArrowheads="1"/>
          </p:cNvSpPr>
          <p:nvPr/>
        </p:nvSpPr>
        <p:spPr bwMode="auto">
          <a:xfrm>
            <a:off x="929068" y="5657279"/>
            <a:ext cx="268288" cy="203200"/>
          </a:xfrm>
          <a:prstGeom prst="ellipse">
            <a:avLst/>
          </a:prstGeom>
          <a:solidFill>
            <a:srgbClr val="77787B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17" name="Text Box 59"/>
          <p:cNvSpPr txBox="1">
            <a:spLocks noChangeArrowheads="1"/>
          </p:cNvSpPr>
          <p:nvPr/>
        </p:nvSpPr>
        <p:spPr bwMode="auto">
          <a:xfrm>
            <a:off x="1145448" y="5620767"/>
            <a:ext cx="44791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전래동화 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APP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실행하여 프로그램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네비게이션으로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 해당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컨텐츠를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 선택한다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8" name="Oval 73"/>
          <p:cNvSpPr>
            <a:spLocks noChangeArrowheads="1"/>
          </p:cNvSpPr>
          <p:nvPr/>
        </p:nvSpPr>
        <p:spPr bwMode="auto">
          <a:xfrm>
            <a:off x="929068" y="5898579"/>
            <a:ext cx="268288" cy="203200"/>
          </a:xfrm>
          <a:prstGeom prst="ellipse">
            <a:avLst/>
          </a:prstGeom>
          <a:solidFill>
            <a:srgbClr val="77787B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19" name="Text Box 59"/>
          <p:cNvSpPr txBox="1">
            <a:spLocks noChangeArrowheads="1"/>
          </p:cNvSpPr>
          <p:nvPr/>
        </p:nvSpPr>
        <p:spPr bwMode="auto">
          <a:xfrm>
            <a:off x="1156081" y="5857304"/>
            <a:ext cx="6760184" cy="25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전래동화 옵션을 선택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옵션체크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동화보기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재생하기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다시보기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인기동화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게임하기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를 선택한 후 해당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컨텐츠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 재생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0" name="Oval 44"/>
          <p:cNvSpPr>
            <a:spLocks noChangeArrowheads="1"/>
          </p:cNvSpPr>
          <p:nvPr/>
        </p:nvSpPr>
        <p:spPr bwMode="auto">
          <a:xfrm>
            <a:off x="2657856" y="3015679"/>
            <a:ext cx="268287" cy="203200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571980"/>
              </p:ext>
            </p:extLst>
          </p:nvPr>
        </p:nvGraphicFramePr>
        <p:xfrm>
          <a:off x="168879" y="1398060"/>
          <a:ext cx="8865668" cy="764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7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1813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PFC2_BGSSMGwanRi_M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프로그램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전래동화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20  .   .   .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3B5AA8"/>
                          </a:solidFill>
                        </a:rPr>
                        <a:t>Page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rgbClr val="3B5AA8"/>
                          </a:solidFill>
                          <a:latin typeface="+mn-lt"/>
                          <a:ea typeface="+mn-ea"/>
                          <a:cs typeface="+mn-cs"/>
                        </a:rPr>
                        <a:t>1/3</a:t>
                      </a:r>
                      <a:endParaRPr lang="ko-KR" altLang="en-US" sz="1000" b="1" kern="1200" dirty="0">
                        <a:solidFill>
                          <a:srgbClr val="3B5AA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6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3B5AA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키넥트기반의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음성인식과 모션인식 기술을 통해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인터랙티브한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방식으로 학습게임을 포함한 전래동화를 체험하는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콘텐츠를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제공하는 프로그램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456534" y="1130999"/>
            <a:ext cx="1571084" cy="238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실무 산출물 형식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DDFED18E-A586-1B3B-5C6C-55B5407DD4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사각형: 둥근 모서리 26">
            <a:extLst>
              <a:ext uri="{FF2B5EF4-FFF2-40B4-BE49-F238E27FC236}">
                <a16:creationId xmlns:a16="http://schemas.microsoft.com/office/drawing/2014/main" xmlns="" id="{FDAC8C2A-AEFE-F984-DB7D-574C12B79BB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63348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기능 처리도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기능 흐름도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4" y="1280714"/>
            <a:ext cx="8461078" cy="4916063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7A8887FE-5483-6A96-8173-BF7FAA6670E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4C47B75-D605-D5F7-7A68-2F4EAD38A7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03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알고리즘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명세서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6" name="image7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1010" y="1547495"/>
            <a:ext cx="3454152" cy="4257769"/>
          </a:xfrm>
          <a:prstGeom prst="rect">
            <a:avLst/>
          </a:prstGeom>
          <a:noFill/>
        </p:spPr>
      </p:pic>
      <p:pic>
        <p:nvPicPr>
          <p:cNvPr id="27" name="image8.png" title="이미지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4668678" y="1601625"/>
            <a:ext cx="4007778" cy="3915607"/>
          </a:xfrm>
          <a:prstGeom prst="rect">
            <a:avLst/>
          </a:prstGeom>
          <a:noFill/>
        </p:spPr>
      </p:pic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xmlns="" id="{8099066B-2374-C2B1-C448-2305AB6B9CD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B734AFF-158A-07BF-BC18-52B3EA10F0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4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상세 설명서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5" y="1473901"/>
            <a:ext cx="8740117" cy="25719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234302" y="4283396"/>
            <a:ext cx="8728070" cy="19036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9" name="image9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68789" y="4420042"/>
            <a:ext cx="4303212" cy="1673254"/>
          </a:xfrm>
          <a:prstGeom prst="rect">
            <a:avLst/>
          </a:prstGeom>
          <a:noFill/>
        </p:spPr>
      </p:pic>
      <p:pic>
        <p:nvPicPr>
          <p:cNvPr id="23" name="image12.png" title="이미지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4617706" y="4447381"/>
            <a:ext cx="4130757" cy="1645915"/>
          </a:xfrm>
          <a:prstGeom prst="rect">
            <a:avLst/>
          </a:prstGeom>
          <a:noFill/>
        </p:spPr>
      </p:pic>
      <p:pic>
        <p:nvPicPr>
          <p:cNvPr id="24" name="image10.png" title="이미지"/>
          <p:cNvPicPr preferRelativeResize="0"/>
          <p:nvPr/>
        </p:nvPicPr>
        <p:blipFill>
          <a:blip r:embed="rId5" cstate="print"/>
          <a:stretch>
            <a:fillRect/>
          </a:stretch>
        </p:blipFill>
        <p:spPr>
          <a:xfrm>
            <a:off x="353509" y="1541283"/>
            <a:ext cx="8322947" cy="2319766"/>
          </a:xfrm>
          <a:prstGeom prst="rect">
            <a:avLst/>
          </a:prstGeom>
          <a:noFill/>
        </p:spPr>
      </p:pic>
      <p:sp>
        <p:nvSpPr>
          <p:cNvPr id="20" name="사각형: 둥근 모서리 26">
            <a:extLst>
              <a:ext uri="{FF2B5EF4-FFF2-40B4-BE49-F238E27FC236}">
                <a16:creationId xmlns:a16="http://schemas.microsoft.com/office/drawing/2014/main" xmlns="" id="{C1EF52DE-67AC-3EEE-9E67-6DBADC42DC08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2F3FF9E-7C11-B11B-299D-5AF7C76BA4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60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309564"/>
              </p:ext>
            </p:extLst>
          </p:nvPr>
        </p:nvGraphicFramePr>
        <p:xfrm>
          <a:off x="298210" y="1216519"/>
          <a:ext cx="8547580" cy="5020793"/>
        </p:xfrm>
        <a:graphic>
          <a:graphicData uri="http://schemas.openxmlformats.org/drawingml/2006/table">
            <a:tbl>
              <a:tblPr/>
              <a:tblGrid>
                <a:gridCol w="12335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26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871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분류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기능번호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명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454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신규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기존 선택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신규 회원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계정연동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신규 회원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회원가입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LOG-01-04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로그인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FAV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FAV-02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즐겨 찾는 병원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9454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구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군 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읍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동 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현재위치로 설정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병원종류 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6734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이하 생략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D1689A0B-A7D8-D8ED-64B0-385C3B6772C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01052307-33C6-8A6E-99FA-D8F564BAD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91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테이블 정의서 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-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9" name="image13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23528" y="1601682"/>
            <a:ext cx="4190388" cy="3915550"/>
          </a:xfrm>
          <a:prstGeom prst="rect">
            <a:avLst/>
          </a:prstGeom>
          <a:noFill/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138" y="1743204"/>
            <a:ext cx="3816424" cy="1680866"/>
          </a:xfrm>
          <a:prstGeom prst="rect">
            <a:avLst/>
          </a:prstGeom>
        </p:spPr>
      </p:pic>
      <p:sp>
        <p:nvSpPr>
          <p:cNvPr id="22" name="사각형: 둥근 모서리 26">
            <a:extLst>
              <a:ext uri="{FF2B5EF4-FFF2-40B4-BE49-F238E27FC236}">
                <a16:creationId xmlns:a16="http://schemas.microsoft.com/office/drawing/2014/main" xmlns="" id="{29616CE0-7335-0521-C56D-711BD9659900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1E1CCA4-B5BD-BA57-028C-1D5146B789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02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6" name="image14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41185" y="1593288"/>
            <a:ext cx="8479287" cy="4500008"/>
          </a:xfrm>
          <a:prstGeom prst="rect">
            <a:avLst/>
          </a:prstGeom>
          <a:noFill/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2A5D967A-F7C6-7D67-ED51-C6C55F51CC1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F8B2554-4982-E7CB-6CA8-D35BFBB015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59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핵심 소스코드</a:t>
            </a:r>
            <a:r>
              <a:rPr lang="en-US" altLang="ko-KR" sz="1700" spc="-50" dirty="0">
                <a:solidFill>
                  <a:schemeClr val="bg1"/>
                </a:solidFill>
                <a:latin typeface="+mn-ea"/>
                <a:cs typeface="+mj-cs"/>
              </a:rPr>
              <a:t>(2)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08100"/>
            <a:ext cx="8128000" cy="21929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50" y="3740943"/>
            <a:ext cx="7378700" cy="27588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94D0B3F6-A9AD-AC8F-C6DB-34F00765E5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사각형: 둥근 모서리 26">
            <a:extLst>
              <a:ext uri="{FF2B5EF4-FFF2-40B4-BE49-F238E27FC236}">
                <a16:creationId xmlns:a16="http://schemas.microsoft.com/office/drawing/2014/main" xmlns="" id="{79D1AD3B-D4D6-6B33-201B-D4AE11EA382F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2420094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개발 환경 및 설명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60068"/>
              </p:ext>
            </p:extLst>
          </p:nvPr>
        </p:nvGraphicFramePr>
        <p:xfrm>
          <a:off x="450882" y="1268760"/>
          <a:ext cx="8242236" cy="5409312"/>
        </p:xfrm>
        <a:graphic>
          <a:graphicData uri="http://schemas.openxmlformats.org/drawingml/2006/table">
            <a:tbl>
              <a:tblPr/>
              <a:tblGrid>
                <a:gridCol w="8254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9411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적용내역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187"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개발환경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 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App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Android Studio (1.2.2)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Android application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프로그램 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Beacon SDK</a:t>
                      </a:r>
                      <a:b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(RECO/Estimote SDK)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 신호를 탐지하고 처리하기 위해 사용 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안드로이드 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OS(5.0.1)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 운영체제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 애플리케이션 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PHP(5.3.3)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 관리자 웹 페이지 처리 모듈 작성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MySQL(5.1.73)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 위치 정보를 포함하는 스마트 도서관 데이터를 저장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관리하는 데이터베이스 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Apache(1.7.1)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관리자 웹 페이지를 구동하는 웹 서버 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　운영체제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리눅스 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CentOS 6.6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Putty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 서버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CentOS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원격 접속용 툴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01818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H/W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구성장비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디바이스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</a:t>
                      </a:r>
                      <a:b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안드로이드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아이폰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사용자에게 서비스를 직접적으로 제공하는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End Device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Estimote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iBeacon, </a:t>
                      </a: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Reco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Beacon)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Region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정보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Mac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주소 등의 정보를 블루투스 신호를 이용해서 지속적으로 신호를 보내는 신호 발생기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통신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블루투스 통신 어댑터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비콘과 스마트폰이 블루투스 통신하기 위한 하드웨어 모듈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무선 랜 어댑터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스마트폰과 웹서버 통신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 서버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SW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 및 테스트를 위한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서버</a:t>
                      </a:r>
                      <a:b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(Server,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리눅스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OS,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유선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NW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44E9C056-C2F0-90E7-A8D6-C4A7F72E7BF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5FFA21BE-BF57-0869-9170-38A087961F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26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-S/W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1" y="1812454"/>
            <a:ext cx="4258129" cy="27689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6" y="1884038"/>
            <a:ext cx="3501585" cy="2697363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AFF764EB-22DF-A175-1421-5773B08BCB8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B6CF3D6-54AD-664D-A74A-7B5AB14258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13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3096344" cy="3178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-H/W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57" y="1935749"/>
            <a:ext cx="7899400" cy="3695700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506AB3E1-AE74-9160-3B88-1E1B34C06951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6960E464-F9BA-E972-3A6A-9DF7CBA2EF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3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동영상 촬영 콘티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3" y="3798060"/>
            <a:ext cx="5877702" cy="215121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78" y="1508629"/>
            <a:ext cx="5855816" cy="2157906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C7500637-46CD-7B82-4D3C-E50C3719767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390139F4-3D90-BC08-F57D-2AEEFFE84A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98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프로젝트 관리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2793828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3131840" y="1468773"/>
            <a:ext cx="288032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6084168" y="1484784"/>
            <a:ext cx="2981592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849" y="1916832"/>
            <a:ext cx="2870229" cy="2529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7872" y="15166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/>
              <a:t>이슈관리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7" y="1988840"/>
            <a:ext cx="2808313" cy="23725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03848" y="14847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형상관리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972217"/>
            <a:ext cx="2692556" cy="23891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7660" y="148478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프로젝트 관리</a:t>
            </a:r>
          </a:p>
        </p:txBody>
      </p:sp>
      <p:sp>
        <p:nvSpPr>
          <p:cNvPr id="24" name="사각형: 둥근 모서리 26">
            <a:extLst>
              <a:ext uri="{FF2B5EF4-FFF2-40B4-BE49-F238E27FC236}">
                <a16:creationId xmlns:a16="http://schemas.microsoft.com/office/drawing/2014/main" xmlns="" id="{01E962C8-CE2A-8E9B-B0A0-BDF35F75C2E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26D0B7D-EFC9-128F-423A-9281E7C679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10800000">
            <a:off x="4306022" y="3226032"/>
            <a:ext cx="4837978" cy="3615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963451" y="2998113"/>
            <a:ext cx="32170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rgbClr val="3B5AA8"/>
                </a:solidFill>
              </a:rPr>
              <a:t>Thank you</a:t>
            </a:r>
            <a:endParaRPr lang="ko-KR" altLang="en-US" sz="5000" b="1" spc="-150" dirty="0">
              <a:solidFill>
                <a:srgbClr val="3B5AA8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71600" y="6502764"/>
            <a:ext cx="705678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C8B488D3-AF34-7CBE-A60C-C2CAAAD8CA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1738</Words>
  <Application>Microsoft Office PowerPoint</Application>
  <PresentationFormat>화면 슬라이드 쇼(4:3)</PresentationFormat>
  <Paragraphs>510</Paragraphs>
  <Slides>34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이낙선</dc:creator>
  <cp:lastModifiedBy>SAMSUNG</cp:lastModifiedBy>
  <cp:revision>282</cp:revision>
  <dcterms:created xsi:type="dcterms:W3CDTF">2014-04-16T00:55:54Z</dcterms:created>
  <dcterms:modified xsi:type="dcterms:W3CDTF">2026-06-23T05:38:39Z</dcterms:modified>
</cp:coreProperties>
</file>